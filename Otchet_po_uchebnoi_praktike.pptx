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61" r:id="rId4"/>
    <p:sldId id="264" r:id="rId5"/>
    <p:sldId id="265" r:id="rId6"/>
    <p:sldId id="266" r:id="rId7"/>
    <p:sldId id="268" r:id="rId8"/>
    <p:sldId id="269" r:id="rId9"/>
    <p:sldId id="271" r:id="rId10"/>
    <p:sldId id="262" r:id="rId11"/>
    <p:sldId id="27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97" autoAdjust="0"/>
  </p:normalViewPr>
  <p:slideViewPr>
    <p:cSldViewPr>
      <p:cViewPr varScale="1">
        <p:scale>
          <a:sx n="60" d="100"/>
          <a:sy n="60" d="100"/>
        </p:scale>
        <p:origin x="78" y="10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EB5B1-0927-4448-A8BC-FA488532DF2B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C214C-7B51-4D5E-B8D7-C469CB1E0E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24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C214C-7B51-4D5E-B8D7-C469CB1E0E2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331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C214C-7B51-4D5E-B8D7-C469CB1E0E2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796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C214C-7B51-4D5E-B8D7-C469CB1E0E2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606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9C214C-7B51-4D5E-B8D7-C469CB1E0E2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015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14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58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87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42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30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079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976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61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967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509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F8A3-FB47-419B-B922-FB495021C6E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9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DF8A3-FB47-419B-B922-FB495021C6E4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14BC9-EDC8-482C-8497-563AE1ACA9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65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79376" y="1700809"/>
            <a:ext cx="11449272" cy="1752599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ПМ.04. Сопровождение и обслуживание программного обеспечения компьютерных систем»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2657"/>
            <a:ext cx="8803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Кировской области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бюджетное учреждение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1864" y="630932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– 2026 г.</a:t>
            </a: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1DBC0EC8-FDED-D477-2684-3D9573E7A6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BD7BE1C-B01F-823D-AFE4-712C65A33E87}"/>
              </a:ext>
            </a:extLst>
          </p:cNvPr>
          <p:cNvSpPr/>
          <p:nvPr/>
        </p:nvSpPr>
        <p:spPr>
          <a:xfrm>
            <a:off x="6672064" y="3786106"/>
            <a:ext cx="5779730" cy="195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Выполнил</a:t>
            </a:r>
            <a:r>
              <a:rPr lang="en-US" sz="1600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Исупов Дмитрий Андреевич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Группа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23П-</a:t>
            </a:r>
            <a:r>
              <a:rPr lang="ru-RU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С</a:t>
            </a: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пециальность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09.02.07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«</a:t>
            </a: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Информационные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системы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и </a:t>
            </a: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программирование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»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Форма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обучения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очная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Руководитель</a:t>
            </a:r>
            <a:r>
              <a:rPr lang="ru-RU" sz="1600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от колледжа</a:t>
            </a:r>
            <a:r>
              <a:rPr lang="en-US" sz="1600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Пентин</a:t>
            </a:r>
            <a:r>
              <a:rPr lang="ru-RU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Николай Сергеевич</a:t>
            </a:r>
          </a:p>
          <a:p>
            <a:pPr>
              <a:lnSpc>
                <a:spcPct val="150000"/>
              </a:lnSpc>
            </a:pPr>
            <a:r>
              <a:rPr lang="ru-RU" sz="1600" b="1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Руковидитель</a:t>
            </a:r>
            <a:r>
              <a:rPr lang="ru-RU" sz="1600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от организации</a:t>
            </a:r>
            <a:r>
              <a:rPr lang="en-US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: </a:t>
            </a:r>
            <a:r>
              <a:rPr lang="ru-RU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Холстинина</a:t>
            </a:r>
            <a:r>
              <a:rPr lang="ru-RU" sz="16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Ольга </a:t>
            </a:r>
            <a:r>
              <a:rPr lang="ru-RU" sz="16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Иванована</a:t>
            </a:r>
            <a:endParaRPr lang="ru-RU" sz="1600" dirty="0">
              <a:latin typeface="Times New Roman" panose="02020603050405020304" pitchFamily="18" charset="0"/>
              <a:ea typeface="Noto Sans SC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14" descr="touch-icon-ipad-retina">
            <a:extLst>
              <a:ext uri="{FF2B5EF4-FFF2-40B4-BE49-F238E27FC236}">
                <a16:creationId xmlns:a16="http://schemas.microsoft.com/office/drawing/2014/main" id="{32B953BD-91A1-EF69-41C2-3A26F36F3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4" y="248703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786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77C071E-491B-99FD-C313-C94789835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B10CE8E4-3C1D-C9C9-3BBD-06E59024F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AAB90E-C028-F389-D662-853EB9F3014A}"/>
              </a:ext>
            </a:extLst>
          </p:cNvPr>
          <p:cNvSpPr txBox="1"/>
          <p:nvPr/>
        </p:nvSpPr>
        <p:spPr>
          <a:xfrm>
            <a:off x="767408" y="2461438"/>
            <a:ext cx="1081499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и настройка Active Directory.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Подключение клиентских ПК к домену.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Moodle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1С, антивируса, CMS, офисного пакета.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групповых политик безопасности.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защиты (брандмауэр, пароли, бэкапы).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конфигураций в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подготовка отчётности.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509D60-F5C1-A8FA-42FA-543734B889FD}"/>
              </a:ext>
            </a:extLst>
          </p:cNvPr>
          <p:cNvSpPr txBox="1"/>
          <p:nvPr/>
        </p:nvSpPr>
        <p:spPr>
          <a:xfrm>
            <a:off x="2207568" y="-52662"/>
            <a:ext cx="8003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практики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D041EB-7A62-4B66-D476-282907A89ED8}"/>
              </a:ext>
            </a:extLst>
          </p:cNvPr>
          <p:cNvSpPr txBox="1"/>
          <p:nvPr/>
        </p:nvSpPr>
        <p:spPr>
          <a:xfrm>
            <a:off x="767408" y="907703"/>
            <a:ext cx="10814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развертывание защищённой информационной системы компьютерного класса школы.</a:t>
            </a:r>
          </a:p>
        </p:txBody>
      </p:sp>
    </p:spTree>
    <p:extLst>
      <p:ext uri="{BB962C8B-B14F-4D97-AF65-F5344CB8AC3E}">
        <p14:creationId xmlns:p14="http://schemas.microsoft.com/office/powerpoint/2010/main" val="3117044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3F8DF-5618-B461-B7FC-665FA669DBBF}"/>
              </a:ext>
            </a:extLst>
          </p:cNvPr>
          <p:cNvSpPr txBox="1"/>
          <p:nvPr/>
        </p:nvSpPr>
        <p:spPr>
          <a:xfrm>
            <a:off x="1903512" y="-54225"/>
            <a:ext cx="8686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объекта практики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32AF3C-0C9A-2D14-3824-30D242DA3ADF}"/>
              </a:ext>
            </a:extLst>
          </p:cNvPr>
          <p:cNvSpPr txBox="1"/>
          <p:nvPr/>
        </p:nvSpPr>
        <p:spPr>
          <a:xfrm>
            <a:off x="189201" y="861023"/>
            <a:ext cx="363808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КОГОБУ «Средняя общеобразовательная школа» пгт. Нема.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Адрес: Кировская обл., пгт. Нема, ул. Советская, 42.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Компьютерный класс на 10 ПК, выделенный сервер (виртуальный).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домена и централизованного управления до внедрения.</a:t>
            </a:r>
          </a:p>
        </p:txBody>
      </p:sp>
      <p:pic>
        <p:nvPicPr>
          <p:cNvPr id="1030" name="Picture 6" descr="Средняя школа, общеобразовательная школа, Советская ул., 42, п. г. т. Нема  — Яндекс Карты">
            <a:extLst>
              <a:ext uri="{FF2B5EF4-FFF2-40B4-BE49-F238E27FC236}">
                <a16:creationId xmlns:a16="http://schemas.microsoft.com/office/drawing/2014/main" id="{2249DAAF-3369-7684-B280-E1D797C9B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146" y="1741765"/>
            <a:ext cx="8343883" cy="400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038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6A50B-12F0-5A69-699A-E02A0D81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A0B98-EADD-97CA-1CB1-00757FCEBDBE}"/>
              </a:ext>
            </a:extLst>
          </p:cNvPr>
          <p:cNvSpPr txBox="1"/>
          <p:nvPr/>
        </p:nvSpPr>
        <p:spPr>
          <a:xfrm>
            <a:off x="1914364" y="-128719"/>
            <a:ext cx="90309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конфигурации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F6A78F-B020-8A92-5509-969ADEA2B634}"/>
              </a:ext>
            </a:extLst>
          </p:cNvPr>
          <p:cNvSpPr txBox="1"/>
          <p:nvPr/>
        </p:nvSpPr>
        <p:spPr>
          <a:xfrm>
            <a:off x="84967" y="1000943"/>
            <a:ext cx="77077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сервер (Windows Server 2019, AD, DNS,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Moodle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1С).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 клиента (Windows 10 Pro) в домене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school.local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Сеть: внутренняя, статические IP (сервер 192.168.10.10, клиенты 192.168.10.11–.13).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63F71F-33AB-9652-1E44-87B6FA48B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638" y="1000943"/>
            <a:ext cx="3789665" cy="47623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4A134B-FFA0-1454-27FE-317374593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410" y="2898585"/>
            <a:ext cx="4880882" cy="39532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9425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0C73A7-70DB-ABDF-5F9E-A581F117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D91A1-1449-3199-F6CA-E618C139ED82}"/>
              </a:ext>
            </a:extLst>
          </p:cNvPr>
          <p:cNvSpPr txBox="1"/>
          <p:nvPr/>
        </p:nvSpPr>
        <p:spPr>
          <a:xfrm>
            <a:off x="609600" y="762104"/>
            <a:ext cx="73586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Установлена роль AD DS.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 домен 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school.local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Созданы OU «Ученики», «Учителя».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Созданы пользователи student1, teacher1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A5AD90-FBB4-069A-DA73-8722B249FB10}"/>
              </a:ext>
            </a:extLst>
          </p:cNvPr>
          <p:cNvSpPr txBox="1"/>
          <p:nvPr/>
        </p:nvSpPr>
        <p:spPr>
          <a:xfrm>
            <a:off x="1091444" y="13027"/>
            <a:ext cx="100091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Directory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8A1AC8-02C1-CDB3-4477-B79924102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769" y="3695382"/>
            <a:ext cx="4104646" cy="31626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CCD9C0-E92F-32D7-0AB1-138CA0F15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208" y="307067"/>
            <a:ext cx="3816424" cy="31626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F8323C-2CA4-D99E-DB61-3B0407B9E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871" y="2680732"/>
            <a:ext cx="5486400" cy="41040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6711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C4954-C41F-0F11-86CE-9D1591DE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4C963-C73A-14EE-AFA2-EFFE5038FE9D}"/>
              </a:ext>
            </a:extLst>
          </p:cNvPr>
          <p:cNvSpPr txBox="1"/>
          <p:nvPr/>
        </p:nvSpPr>
        <p:spPr>
          <a:xfrm>
            <a:off x="609600" y="695097"/>
            <a:ext cx="113061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клиентах настроены статические IP, DNS – 192.168.10.10.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Клиенты введены в домен через 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sysdm.cpl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связи: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192.168.10.10 – успешно.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C28FA-58E5-F810-A95E-B94BA52C06D0}"/>
              </a:ext>
            </a:extLst>
          </p:cNvPr>
          <p:cNvSpPr txBox="1"/>
          <p:nvPr/>
        </p:nvSpPr>
        <p:spPr>
          <a:xfrm>
            <a:off x="1981200" y="-44782"/>
            <a:ext cx="822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Подключение клиентов</a:t>
            </a:r>
          </a:p>
        </p:txBody>
      </p:sp>
      <p:sp>
        <p:nvSpPr>
          <p:cNvPr id="17" name="Объект 16">
            <a:extLst>
              <a:ext uri="{FF2B5EF4-FFF2-40B4-BE49-F238E27FC236}">
                <a16:creationId xmlns:a16="http://schemas.microsoft.com/office/drawing/2014/main" id="{4D9C4B9F-81CA-6D70-57AA-3AB7BAD8E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AE1059-009A-A0E6-AE3C-D73C3BDC7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990" y="2135123"/>
            <a:ext cx="5570041" cy="470848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AB43BF-3110-FCD1-AD1A-D47E8E373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18" y="3125939"/>
            <a:ext cx="6073457" cy="289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78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50D22E-E919-0B50-1583-275C0993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AA3AD7-6199-303A-83F5-82EC51F57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210890-A524-4A7B-DDD5-89F9A1658C89}"/>
              </a:ext>
            </a:extLst>
          </p:cNvPr>
          <p:cNvSpPr txBox="1"/>
          <p:nvPr/>
        </p:nvSpPr>
        <p:spPr>
          <a:xfrm>
            <a:off x="1775520" y="92075"/>
            <a:ext cx="8435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Групповые политики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E762F1-3BAA-96D6-D906-7D37BA633426}"/>
              </a:ext>
            </a:extLst>
          </p:cNvPr>
          <p:cNvSpPr txBox="1"/>
          <p:nvPr/>
        </p:nvSpPr>
        <p:spPr>
          <a:xfrm>
            <a:off x="50182" y="1034096"/>
            <a:ext cx="400629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политика 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StudentRestrictions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для OU «Ученики».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Запрет панели управления, установки программ, USB-накопителей.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Проверка: под student1 панель управления недоступна.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DA23A0-869E-DE6D-0DC7-9B28BB433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758" y="3693703"/>
            <a:ext cx="4485151" cy="31642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01AF69-75E5-80E1-EF37-E4651E5B8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469" y="865928"/>
            <a:ext cx="4194349" cy="27694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6299C5E-62C9-F4E7-64FB-C2F60363F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140" y="1034096"/>
            <a:ext cx="3674538" cy="304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20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6B634-9CD0-0B45-6DFF-8EA896A5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1553835"/>
            <a:ext cx="8229600" cy="11430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D2851-CD31-C9C6-435A-FFA768FB7B85}"/>
              </a:ext>
            </a:extLst>
          </p:cNvPr>
          <p:cNvSpPr txBox="1"/>
          <p:nvPr/>
        </p:nvSpPr>
        <p:spPr>
          <a:xfrm>
            <a:off x="-168696" y="-13204"/>
            <a:ext cx="107291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Установка ПО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BCFB420C-6117-35FE-2082-92D9CED4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5152" y="2288721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64013D-B659-2920-B645-96CD7280C9AE}"/>
              </a:ext>
            </a:extLst>
          </p:cNvPr>
          <p:cNvSpPr txBox="1"/>
          <p:nvPr/>
        </p:nvSpPr>
        <p:spPr>
          <a:xfrm>
            <a:off x="268202" y="1149181"/>
            <a:ext cx="70519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Moodle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(LMS) – работает на http://localhost/moodle.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1С:Предприятие (учебная версия) – демо-база.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ClamAV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(антивирус) – собран из исходников.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LibreOffice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84D8AC6-8498-6AA5-0A75-890EDAC11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135" y="543057"/>
            <a:ext cx="4744688" cy="33538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DDB218D-58FC-6353-5D4F-1BEF72E3F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60" y="3940266"/>
            <a:ext cx="3697317" cy="29177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4F0EDB5-0D63-3388-0204-47D7659BC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464" y="2862037"/>
            <a:ext cx="4968552" cy="39743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1721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3F053-0264-0FDC-3119-FDFDAF84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1132E-45EB-6205-E0FB-CFAF0385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1553835"/>
            <a:ext cx="8229600" cy="114300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B62187-037F-271A-59B4-D14DEC5623D4}"/>
              </a:ext>
            </a:extLst>
          </p:cNvPr>
          <p:cNvSpPr txBox="1"/>
          <p:nvPr/>
        </p:nvSpPr>
        <p:spPr>
          <a:xfrm>
            <a:off x="2927648" y="-190032"/>
            <a:ext cx="107291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Результаты тестирования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5F17CC29-1935-752D-FE41-00EA42CFA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5152" y="2288721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A2BF20B-C456-6AC0-E807-E7AFC44C5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168177"/>
              </p:ext>
            </p:extLst>
          </p:nvPr>
        </p:nvGraphicFramePr>
        <p:xfrm>
          <a:off x="191344" y="412062"/>
          <a:ext cx="11809311" cy="64459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36437">
                  <a:extLst>
                    <a:ext uri="{9D8B030D-6E8A-4147-A177-3AD203B41FA5}">
                      <a16:colId xmlns:a16="http://schemas.microsoft.com/office/drawing/2014/main" val="264872615"/>
                    </a:ext>
                  </a:extLst>
                </a:gridCol>
                <a:gridCol w="3936437">
                  <a:extLst>
                    <a:ext uri="{9D8B030D-6E8A-4147-A177-3AD203B41FA5}">
                      <a16:colId xmlns:a16="http://schemas.microsoft.com/office/drawing/2014/main" val="3232474726"/>
                    </a:ext>
                  </a:extLst>
                </a:gridCol>
                <a:gridCol w="3936437">
                  <a:extLst>
                    <a:ext uri="{9D8B030D-6E8A-4147-A177-3AD203B41FA5}">
                      <a16:colId xmlns:a16="http://schemas.microsoft.com/office/drawing/2014/main" val="1823848788"/>
                    </a:ext>
                  </a:extLst>
                </a:gridCol>
              </a:tblGrid>
              <a:tr h="308361"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Тест-кейс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Ожидаемый результат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Фактический результат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extLst>
                  <a:ext uri="{0D108BD9-81ED-4DB2-BD59-A6C34878D82A}">
                    <a16:rowId xmlns:a16="http://schemas.microsoft.com/office/drawing/2014/main" val="3638636283"/>
                  </a:ext>
                </a:extLst>
              </a:tr>
              <a:tr h="408442"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Вход в домен под student1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Успешный вход, применение GPO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✅ Выполнено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extLst>
                  <a:ext uri="{0D108BD9-81ED-4DB2-BD59-A6C34878D82A}">
                    <a16:rowId xmlns:a16="http://schemas.microsoft.com/office/drawing/2014/main" val="3039934953"/>
                  </a:ext>
                </a:extLst>
              </a:tr>
              <a:tr h="653648"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Открытие панели управления под student1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Доступ запрещён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✅ Запрещено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extLst>
                  <a:ext uri="{0D108BD9-81ED-4DB2-BD59-A6C34878D82A}">
                    <a16:rowId xmlns:a16="http://schemas.microsoft.com/office/drawing/2014/main" val="1272190706"/>
                  </a:ext>
                </a:extLst>
              </a:tr>
              <a:tr h="653648"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Запуск установщика .exe (например, 7z.exe)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Сообщение об ошибке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✅ Ошибка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extLst>
                  <a:ext uri="{0D108BD9-81ED-4DB2-BD59-A6C34878D82A}">
                    <a16:rowId xmlns:a16="http://schemas.microsoft.com/office/drawing/2014/main" val="2813302921"/>
                  </a:ext>
                </a:extLst>
              </a:tr>
              <a:tr h="308361"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Подключение USB-флешки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Флешка не определяется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✅ Не определяется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extLst>
                  <a:ext uri="{0D108BD9-81ED-4DB2-BD59-A6C34878D82A}">
                    <a16:rowId xmlns:a16="http://schemas.microsoft.com/office/drawing/2014/main" val="3911426960"/>
                  </a:ext>
                </a:extLst>
              </a:tr>
              <a:tr h="653648"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Вход в Moodle под student1 через AD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>Автоматический вход, отображение курсов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>✅ Успешно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extLst>
                  <a:ext uri="{0D108BD9-81ED-4DB2-BD59-A6C34878D82A}">
                    <a16:rowId xmlns:a16="http://schemas.microsoft.com/office/drawing/2014/main" val="2424178776"/>
                  </a:ext>
                </a:extLst>
              </a:tr>
              <a:tr h="653648"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Создание курса учителем в Moodle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Курс создаётся, добавляются элементы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✅ Успешно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extLst>
                  <a:ext uri="{0D108BD9-81ED-4DB2-BD59-A6C34878D82A}">
                    <a16:rowId xmlns:a16="http://schemas.microsoft.com/office/drawing/2014/main" val="2662999565"/>
                  </a:ext>
                </a:extLst>
              </a:tr>
              <a:tr h="653648"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Прохождение теста учеником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Ответы сохраняются, оценка отображается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✅ Успешно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extLst>
                  <a:ext uri="{0D108BD9-81ED-4DB2-BD59-A6C34878D82A}">
                    <a16:rowId xmlns:a16="http://schemas.microsoft.com/office/drawing/2014/main" val="3277696693"/>
                  </a:ext>
                </a:extLst>
              </a:tr>
              <a:tr h="653648"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>Запуск сканирования </a:t>
                      </a:r>
                      <a:r>
                        <a:rPr lang="ru-RU" sz="1600" dirty="0" err="1">
                          <a:solidFill>
                            <a:schemeClr val="tx1"/>
                          </a:solidFill>
                          <a:effectLst/>
                        </a:rPr>
                        <a:t>ClamAV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> на тестовом EICAR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Обнаружение угрозы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✅ Обнаружен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extLst>
                  <a:ext uri="{0D108BD9-81ED-4DB2-BD59-A6C34878D82A}">
                    <a16:rowId xmlns:a16="http://schemas.microsoft.com/office/drawing/2014/main" val="3237741539"/>
                  </a:ext>
                </a:extLst>
              </a:tr>
              <a:tr h="653648"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Проверка пинга между клиентом и сервером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>Потеря пакетов 0%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✅ 0%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extLst>
                  <a:ext uri="{0D108BD9-81ED-4DB2-BD59-A6C34878D82A}">
                    <a16:rowId xmlns:a16="http://schemas.microsoft.com/office/drawing/2014/main" val="2523556413"/>
                  </a:ext>
                </a:extLst>
              </a:tr>
              <a:tr h="653648"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Попытка входа с неверным паролем 3 раза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>
                          <a:solidFill>
                            <a:schemeClr val="tx1"/>
                          </a:solidFill>
                          <a:effectLst/>
                        </a:rPr>
                        <a:t>Блокировка учётной записи на 15 минут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tc>
                  <a:txBody>
                    <a:bodyPr/>
                    <a:lstStyle/>
                    <a:p>
                      <a:pPr indent="19685">
                        <a:lnSpc>
                          <a:spcPct val="150000"/>
                        </a:lnSpc>
                        <a:buNone/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</a:rPr>
                        <a:t>✅ Блокировка сработала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755" marR="42755" marT="0" marB="0"/>
                </a:tc>
                <a:extLst>
                  <a:ext uri="{0D108BD9-81ED-4DB2-BD59-A6C34878D82A}">
                    <a16:rowId xmlns:a16="http://schemas.microsoft.com/office/drawing/2014/main" val="1679173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848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-243408"/>
            <a:ext cx="8229600" cy="114300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408" y="1228397"/>
            <a:ext cx="1094521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время производственной практики мной были полностью выполнены все задачи, поставленные в задании ПМ.04.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 развернул домен Active Directory, настроил групповые политики безопасности для учеников, установил и интегрировал систему дистанционного обучения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Moodle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другое необходимое ПО: 1С,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ClamAV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LibreOffice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 собран из исходников антивирус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ClamAV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результаты сохранены в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-репозитории.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тестирование, подтвердившее работоспособность и безопасность созданной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26487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970D0-FFA6-1231-790A-1CBBE4D10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528" y="-171400"/>
            <a:ext cx="82296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06E6A8-66C6-1918-34A3-379FC2CCA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640" y="764704"/>
            <a:ext cx="6093296" cy="60932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0725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574</Words>
  <Application>Microsoft Office PowerPoint</Application>
  <PresentationFormat>Широкоэкранный</PresentationFormat>
  <Paragraphs>105</Paragraphs>
  <Slides>11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Тема Office</vt:lpstr>
      <vt:lpstr>ПМ.04. Сопровождение и обслуживание программного обеспечения компьютерных систем»</vt:lpstr>
      <vt:lpstr> </vt:lpstr>
      <vt:lpstr> </vt:lpstr>
      <vt:lpstr> </vt:lpstr>
      <vt:lpstr> </vt:lpstr>
      <vt:lpstr> </vt:lpstr>
      <vt:lpstr> </vt:lpstr>
      <vt:lpstr> </vt:lpstr>
      <vt:lpstr> </vt:lpstr>
      <vt:lpstr>Заключение</vt:lpstr>
      <vt:lpstr>QR-код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учебной практике  ПМ.02 Осуществление интеграции программных модулей</dc:title>
  <dc:creator>Prepod_1</dc:creator>
  <cp:lastModifiedBy>Дима Исупов</cp:lastModifiedBy>
  <cp:revision>15</cp:revision>
  <dcterms:created xsi:type="dcterms:W3CDTF">2023-05-12T10:02:04Z</dcterms:created>
  <dcterms:modified xsi:type="dcterms:W3CDTF">2026-06-15T09:22:29Z</dcterms:modified>
</cp:coreProperties>
</file>